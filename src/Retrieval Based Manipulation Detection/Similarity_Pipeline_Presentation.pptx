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64592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E1E2E"/>
                </a:solidFill>
                <a:latin typeface="Segoe UI"/>
              </a:defRPr>
            </a:pPr>
            <a:r>
              <a:t>Similarity / Retrieval-Based Manipulation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834640"/>
            <a:ext cx="9692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0">
                <a:solidFill>
                  <a:srgbClr val="0078D4"/>
                </a:solidFill>
                <a:latin typeface="Segoe UI"/>
              </a:defRPr>
            </a:pPr>
            <a:r>
              <a:t>Memory-centric classification with semantic retrieval, threshold tuning, and hybrid label prediction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3840480"/>
            <a:ext cx="3931920" cy="36576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920240" y="4389120"/>
            <a:ext cx="822960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4526280"/>
            <a:ext cx="7680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55566"/>
                </a:solidFill>
                <a:latin typeface="Segoe UI"/>
              </a:defRPr>
            </a:pPr>
            <a:r>
              <a:t>Results source: con_emotion_linear  |  Retrieval mode: linear  |  Technique mode: hybrid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66"/>
                </a:solidFill>
                <a:latin typeface="Segoe UI"/>
              </a:defRPr>
            </a:pPr>
            <a:r>
              <a:t>Built with Python  ·  sentence-transformers  ·  scikit-learn  ·  MentalManip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1E2E"/>
                </a:solidFill>
                <a:latin typeface="Segoe UI"/>
              </a:defRPr>
            </a:pPr>
            <a:r>
              <a:t>Architecture &amp; Execution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68680"/>
            <a:ext cx="2743200" cy="457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35661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280160" cy="411480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727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8D4"/>
                </a:solidFill>
                <a:latin typeface="Segoe UI"/>
              </a:defRPr>
            </a:pPr>
            <a:r>
              <a:t>Prepare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87B00"/>
                </a:solidFill>
                <a:latin typeface="Segoe UI"/>
              </a:defRPr>
            </a:pPr>
            <a:r>
              <a:t>data_loader.py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Load MentalManip dialogues + labels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Normalize text for stable embeddings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Split technique and vulnerability labels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371600"/>
            <a:ext cx="35661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1280160" cy="411480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5727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103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8D4"/>
                </a:solidFill>
                <a:latin typeface="Segoe UI"/>
              </a:defRPr>
            </a:pPr>
            <a:r>
              <a:t>Encode Dialogues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560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87B00"/>
                </a:solidFill>
                <a:latin typeface="Segoe UI"/>
              </a:defRPr>
            </a:pPr>
            <a:r>
              <a:t>SentenceTransformer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01752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Build emotion/semantic embeddings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Optional embedding cache for faster reruns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Support batch inference on large datasets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371600"/>
            <a:ext cx="35661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0" y="1554480"/>
            <a:ext cx="1280160" cy="411480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5727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103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8D4"/>
                </a:solidFill>
                <a:latin typeface="Segoe UI"/>
              </a:defRPr>
            </a:pPr>
            <a:r>
              <a:t>Retrieve + Decide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560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87B00"/>
                </a:solidFill>
                <a:latin typeface="Segoe UI"/>
              </a:defRPr>
            </a:pPr>
            <a:r>
              <a:t>pipeline.py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01752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Global/per-class/linear scoring modes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Threshold tuning with recall/FPR constraints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Hybrid technique/vulnerability label prediction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78D4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78D4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5989320"/>
            <a:ext cx="114300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035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66"/>
                </a:solidFill>
                <a:latin typeface="Segoe UI"/>
              </a:defRPr>
            </a:pPr>
            <a:r>
              <a:t>Key outputs: predictions.csv, metrics.json, threshold_curve.json, aggregate_metrics.json (multi-run)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1E2E"/>
                </a:solidFill>
                <a:latin typeface="Segoe UI"/>
              </a:defRPr>
            </a:pPr>
            <a:r>
              <a:t>Key Technical Decisions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68680"/>
            <a:ext cx="2743200" cy="457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5669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Retrieval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Supports auto mode across global, per-class, and linear scorers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Similarity-power weighting emphasizes close exemplars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Class-wise margin features improve interpretability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669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Decision Calibration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Threshold tuned on validation split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Constraint-aware optimization: recall target + optional max FPR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Optional Platt / isotonic probability calibration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840480"/>
            <a:ext cx="5669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9776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Label Attribution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Neighbor vote model for technique/vulnerability labels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One-vs-rest linear predictor for techniques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Hybrid blending balances precision and recall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840480"/>
            <a:ext cx="5669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9776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Operational Efficiency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48056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No end-to-end deep classifier training loop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Embedding cache for iterative sweeps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Configurable multi-run reproducibility via seeds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1E2E"/>
                </a:solidFill>
                <a:latin typeface="Segoe UI"/>
              </a:defRPr>
            </a:pPr>
            <a:r>
              <a:t>Results Snapshot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68680"/>
            <a:ext cx="2743200" cy="457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21488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50876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78D4"/>
                </a:solidFill>
                <a:latin typeface="Segoe UI"/>
              </a:defRPr>
            </a:pPr>
            <a:r>
              <a:t>73.6%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02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55566"/>
                </a:solidFill>
                <a:latin typeface="Segoe UI"/>
              </a:defRPr>
            </a:pPr>
            <a:r>
              <a:t>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280160"/>
            <a:ext cx="21488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3FA0"/>
                </a:solidFill>
                <a:latin typeface="Segoe UI"/>
              </a:defRPr>
            </a:pPr>
            <a:r>
              <a:t>74.5%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2402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55566"/>
                </a:solidFill>
                <a:latin typeface="Segoe UI"/>
              </a:defRPr>
            </a:pPr>
            <a:r>
              <a:t>Precision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280160"/>
            <a:ext cx="21488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8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150876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E8A4E"/>
                </a:solidFill>
                <a:latin typeface="Segoe UI"/>
              </a:defRPr>
            </a:pPr>
            <a:r>
              <a:t>94.0%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2402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55566"/>
                </a:solidFill>
                <a:latin typeface="Segoe UI"/>
              </a:defRPr>
            </a:pPr>
            <a:r>
              <a:t>Recall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0" y="1280160"/>
            <a:ext cx="21488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8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150876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E8A4E"/>
                </a:solidFill>
                <a:latin typeface="Segoe UI"/>
              </a:defRPr>
            </a:pPr>
            <a:r>
              <a:t>83.1%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0" y="22402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55566"/>
                </a:solidFill>
                <a:latin typeface="Segoe UI"/>
              </a:defRPr>
            </a:pPr>
            <a:r>
              <a:t>F1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0" y="1280160"/>
            <a:ext cx="21488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0" y="150876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87B00"/>
                </a:solidFill>
                <a:latin typeface="Segoe UI"/>
              </a:defRPr>
            </a:pPr>
            <a:r>
              <a:t>6.0%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22402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55566"/>
                </a:solidFill>
                <a:latin typeface="Segoe UI"/>
              </a:defRPr>
            </a:pPr>
            <a:r>
              <a:t>FN Rate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474720"/>
            <a:ext cx="1143000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611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8D4"/>
                </a:solidFill>
                <a:latin typeface="Segoe UI"/>
              </a:defRPr>
            </a:pPr>
            <a:r>
              <a:t>Secondary Metrics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1148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PR-AUC: 87.0%  |  ROC-AUC: 75.5%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Technique micro-F1: 41.9%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Vulnerability micro-F1: 41.8%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Decision threshold: 0.530  |  Runs: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114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Confusion Counts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572000"/>
            <a:ext cx="5029200" cy="146304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470916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E1E2E"/>
                </a:solidFill>
                <a:latin typeface="Consolas"/>
              </a:defRPr>
            </a:pPr>
            <a:r>
              <a:t>TP=379   TN=50</a:t>
            </a:r>
            <a:br/>
            <a:r>
              <a:t>FP=130   FN=24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1E2E"/>
                </a:solidFill>
                <a:latin typeface="Segoe UI"/>
              </a:defRPr>
            </a:pPr>
            <a:r>
              <a:t>Qualitative Prediction 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68680"/>
            <a:ext cx="2743200" cy="457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114300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66"/>
                </a:solidFill>
                <a:latin typeface="Segoe UI"/>
              </a:defRPr>
            </a:pPr>
            <a:r>
              <a:t>Sample dialogue: Person1: That's right. That's what I said. You have a good memory. Then what? Person2: Well. Person1: THEN WHAT? Person2: Then you got undressed. Person1: How many times have you sneaked into girls' apartments and watched them undress? P...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474720"/>
            <a:ext cx="55778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8D4"/>
                </a:solidFill>
                <a:latin typeface="Segoe UI"/>
              </a:defRPr>
            </a:pPr>
            <a:r>
              <a:t>Sample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Ground truth label: 1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Predicted label: 1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Model score: 0.7604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Threshold: 0.530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474720"/>
            <a:ext cx="55778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8D4"/>
                </a:solidFill>
                <a:latin typeface="Segoe UI"/>
              </a:defRPr>
            </a:pPr>
            <a:r>
              <a:t>Most Frequent Predicted Techniques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160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Persuasion or Seduction, Shaming or Belittlement, Intimidation, Accusation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Useful for auditing what behaviors the retriever focuses 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Can reveal overprediction patterns for specific tactics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1E2E"/>
                </a:solidFill>
                <a:latin typeface="Segoe UI"/>
              </a:defRPr>
            </a:pPr>
            <a:r>
              <a:t>Impact, Tradeoffs,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68680"/>
            <a:ext cx="2743200" cy="45720"/>
          </a:xfrm>
          <a:prstGeom prst="roundRect">
            <a:avLst/>
          </a:prstGeom>
          <a:solidFill>
            <a:srgbClr val="D8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56692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8D4"/>
                </a:solidFill>
                <a:latin typeface="Segoe UI"/>
              </a:defRPr>
            </a:pPr>
            <a:r>
              <a:t>Strengths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Interpretable via nearest-exemplar evidence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Configurable objective allows recall-vs-FPR balancing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Easy iterative improvement with cached embeddings and reruns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Hybrid labeling improves behavioral signal coverage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6692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87B00"/>
                </a:solidFill>
                <a:latin typeface="Segoe UI"/>
              </a:defRPr>
            </a:pPr>
            <a:r>
              <a:t>Limitations / 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5740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D87B00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Performance is bounded by embedding quality and dataset coverage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D87B00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Novel phrasing can reduce nearest-neighbor reliability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D87B00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Threshold transferability may drift across domains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D87B00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Label predictions depend on annotation completeness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66"/>
                </a:solidFill>
                <a:latin typeface="Segoe UI"/>
              </a:defRPr>
            </a:pPr>
            <a:r>
              <a:t>Recommended next steps: compare modes across multiple seeds and audit high-confidence false positives.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