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2E"/>
                </a:solidFill>
                <a:latin typeface="Segoe UI"/>
              </a:defRPr>
            </a:pPr>
            <a:r>
              <a:t>Intent-Aware Prompting (IAP)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78D4"/>
                </a:solidFill>
                <a:latin typeface="Segoe UI"/>
              </a:defRPr>
            </a:pPr>
            <a:r>
              <a:t>Detecting Psychological Manipulation in Dialogues via LLM-Driven Intent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840480"/>
            <a:ext cx="3931920" cy="36576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4389120"/>
            <a:ext cx="7589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4526280"/>
            <a:ext cx="7040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66"/>
                </a:solidFill>
                <a:latin typeface="Segoe UI"/>
              </a:defRPr>
            </a:pPr>
            <a:r>
              <a:t>Core Idea: Separate "what is said" (surface dialogue) from "why it is said"</a:t>
            </a:r>
            <a:br/>
            <a:r>
              <a:t>(latent intent) to improve manipulation detection with reduced false negatives.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Segoe UI"/>
              </a:defRPr>
            </a:pPr>
            <a:r>
              <a:t>Built with Python  ·  Async Pipeline  ·  OpenAI / Anthropic / Groq  ·  MentalManip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Architecture &amp;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28016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Data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7B00"/>
                </a:solidFill>
                <a:latin typeface="Segoe UI"/>
              </a:defRPr>
            </a:pPr>
            <a:r>
              <a:t>data_loader.py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Parse MentalManip CSV dataset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Extract dialogue text &amp; ground-truth labels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Handle technique &amp; vulnerability annotations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128016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727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Intent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7B00"/>
                </a:solidFill>
                <a:latin typeface="Segoe UI"/>
              </a:defRPr>
            </a:pPr>
            <a:r>
              <a:t>intent_extractor.py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175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Parallel extraction for Person A &amp; B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LLM acts as psycholinguist (Theory of Mind)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Identifies guilt-tripping, gaslighting,
blameshifting, emotional blackmail,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128016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727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7B00"/>
                </a:solidFill>
                <a:latin typeface="Segoe UI"/>
              </a:defRPr>
            </a:pPr>
            <a:r>
              <a:t>classifier.py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175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Combines dialogue + both intent vectors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LLM outputs JSON: manipulative (0/1),
confidence, technique, explanation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Results saved to predictions.csv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989320"/>
            <a:ext cx="114300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Segoe UI"/>
              </a:defRPr>
            </a:pPr>
            <a:r>
              <a:t>Supporting Modules:   llm_client.py (unified API layer)  ·  prompts.py (prompt templates)  ·  config.py (settings)  ·  evaluation.py (metrics)  ·  pipeline.py (async orchestrator)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Key Design Decisions &amp; Technical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🔌  Multi-Provider LLM Abstraction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Unified call_llm() dispatcher for OpenAI, Anthropic &amp; Groq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Groq uses OpenAI SDK with custom base_url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Exponential backoff retry for rate limits (2→3→5→9s)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Configurable temperature &amp; max tokens per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🧠  Prompt Engineering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System prompt: LLM = expert psycholinguist role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Intent extraction focuses on latent manipulation tactics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Classification combines dialogue + dual intent vectors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Structured JSON output: label, confidence, technique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4048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⚡  Async Concurrency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asyncio-based pipeline with configurable semaphore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Parallel intent extraction for Person A &amp; B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Concurrent dialogue processing (default: 5 workers)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Non-blocking API calls maximize throughput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📊  Evaluation &amp; Safety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Key metric: False Negative Rate (FNR) reduction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Missed manipulation = safety risk → prioritize recall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Full confusion matrix + precision, recall, F1, accuracy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Per-dialogue predictions with explanations saved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Results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78D4"/>
                </a:solidFill>
                <a:latin typeface="Segoe UI"/>
              </a:defRPr>
            </a:pPr>
            <a:r>
              <a:t>75.0%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6B3FA0"/>
                </a:solidFill>
                <a:latin typeface="Segoe UI"/>
              </a:defRPr>
            </a:pPr>
            <a:r>
              <a:t>88.2%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E8A4E"/>
                </a:solidFill>
                <a:latin typeface="Segoe UI"/>
              </a:defRPr>
            </a:pPr>
            <a:r>
              <a:t>83.3%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E8A4E"/>
                </a:solidFill>
                <a:latin typeface="Segoe UI"/>
              </a:defRPr>
            </a:pPr>
            <a:r>
              <a:t>85.7%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F1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280160"/>
            <a:ext cx="2148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50876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D87B00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2402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Segoe UI"/>
              </a:defRPr>
            </a:pPr>
            <a:r>
              <a:t>False Neg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74720"/>
            <a:ext cx="11430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IAP achieves ~30.5% FNR improvement over baselines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Intent separation catches subtle manipulation
that surface-level analysis misses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Detected techniques: gaslighting, guilt-tripping,
emotional blackmail, minimization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High confidence predictions with explanations
enable human-in-the-loop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Sample Output (per dialogue):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72000"/>
            <a:ext cx="5029200" cy="14630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6634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8A4E"/>
                </a:solidFill>
                <a:latin typeface="Consolas"/>
              </a:defRPr>
            </a:pPr>
            <a:r>
              <a:t>{</a:t>
            </a:r>
            <a:br/>
            <a:r>
              <a:t>  "manipulative": 1,</a:t>
            </a:r>
            <a:br/>
            <a:r>
              <a:t>  "confidence": 0.9,</a:t>
            </a:r>
            <a:br/>
            <a:r>
              <a:t>  "technique": "Gaslighting, Guilt-tripping",</a:t>
            </a:r>
            <a:br/>
            <a:r>
              <a:t>  "explanation": "Person A denies B's ..."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The Core Paradigm: Memory Over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64592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🔄  From Learning to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Moves away from the traditional ML paradigm of fine-tuning weights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No classification boundary is learned from data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Replaces gradient-based optimization with direct memory lookup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219456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72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MEMORY 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🗄️  Stored Exemplar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Stores exact, labeled exemplars of both normal and manipulative dialogues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Database serves as the model's entire knowledge base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Each entry preserves full context and ground-truth 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164592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727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📐  Semantic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Determines intent purely by measuring semantic similarity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No complex neural layers or probability computations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Distance in vector space replaces learned decision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The Retrieval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01168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VECTORIZATION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🔢  Dense Vector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Converts new conversation segments into dense vector representations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Uses embedding models such as sentence-transformers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Captures semantic meaning in high-dimensional 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256032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727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DISTANCE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📏  k-NN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Executes fast k-nearest-neighbor search in vector space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Locates the closest historical examples to the input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Optimized algorithms enable sub-millisecond lookups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108960" cy="411480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72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CLASSIFICATION BY PROXIMITY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🎯  Cluster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Flags segment as manipulation if it clusters near stored tactics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Matches prototypical patterns like "accusation" or "feigning innocence"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Semantic proximity drives the final classification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Key Advantages &amp; Efficiency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⚡  Compute-Light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Completely bypasses expensive model training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No backpropagation or gradient updates required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Runs on minimal hardware — no GPU needed for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🚀  High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Relies on precomputed embeddings for instant lookup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Highly optimized nearest-neighbor search algorithms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Rapid inference suitable for real-time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4048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🔬  Granular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Supports fine-grained taxonomy classification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Matches input to specifically labeled clusters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Inherent multi-class support without architectural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🔄  Instant Adaptability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Updated in real-time by adding new examples to the vector DB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Zero downtime required for system updates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New manipulation patterns recognized immediately after insertion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Tradeoffs &amp; Structural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743200" cy="45720"/>
          </a:xfrm>
          <a:prstGeom prst="roundRect">
            <a:avLst/>
          </a:prstGeom>
          <a:solidFill>
            <a:srgbClr val="D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926080" cy="411480"/>
          </a:xfrm>
          <a:prstGeom prst="roundRect">
            <a:avLst/>
          </a:prstGeom>
          <a:solidFill>
            <a:srgbClr val="D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EMBEDDING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7B00"/>
                </a:solidFill>
                <a:latin typeface="Segoe UI"/>
              </a:defRPr>
            </a:pPr>
            <a:r>
              <a:t>⚠️  Quality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Entire system accuracy is bottlenecked by embedding quality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If embeddings fail to capture pragmatic nuance, retrieval fails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Choice of embedding model is a critical design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108960" cy="411480"/>
          </a:xfrm>
          <a:prstGeom prst="roundRect">
            <a:avLst/>
          </a:prstGeom>
          <a:solidFill>
            <a:srgbClr val="D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72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VULNERABILITY TO NOVELTY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7B00"/>
                </a:solidFill>
                <a:latin typeface="Segoe UI"/>
              </a:defRPr>
            </a:pPr>
            <a:r>
              <a:t>🆕  Out-of-Domain Weakness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Easily fooled by out-of-domain phrasing patterns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Highly novel sentence structures won't map near stored cases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Requires continuous exemplar expansion for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661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2926080" cy="411480"/>
          </a:xfrm>
          <a:prstGeom prst="roundRect">
            <a:avLst/>
          </a:prstGeom>
          <a:solidFill>
            <a:srgbClr val="D8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727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SEMANTIC BLIND 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7B00"/>
                </a:solidFill>
                <a:latin typeface="Segoe UI"/>
              </a:defRPr>
            </a:pPr>
            <a:r>
              <a:t>👁️  False Positive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Prioritizes semantic closeness over explicit logical reasoning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May misclassify benign text sharing vocabulary with manipulative data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D87B00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Lacks ability to reason about context or speaker intent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1E2E"/>
                </a:solidFill>
                <a:latin typeface="Segoe UI"/>
              </a:defRPr>
            </a:pPr>
            <a:r>
              <a:t>New Response Correction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2926080" cy="45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3949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After classification, pipeline generates a normal assistant reply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If manipulative=1, a hidden supervisor instruction is injected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Instruction: politely acknowledge, refuse manipulative premise, pivot safe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>
                <a:solidFill>
                  <a:srgbClr val="0078D4"/>
                </a:solidFill>
                <a:latin typeface="Segoe UI"/>
              </a:rPr>
              <a:t>▸ </a:t>
            </a:r>
            <a:r>
              <a:rPr sz="1400">
                <a:solidFill>
                  <a:srgbClr val="555566"/>
                </a:solidFill>
                <a:latin typeface="Segoe UI"/>
              </a:rPr>
              <a:t>If manipulative=0, corrected response remains equivalent to base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92040"/>
            <a:ext cx="4846320" cy="1417320"/>
          </a:xfrm>
          <a:prstGeom prst="roundRect">
            <a:avLst/>
          </a:prstGeom>
          <a:solidFill>
            <a:srgbClr val="F0F0F5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  <a:latin typeface="Segoe UI"/>
              </a:defRPr>
            </a:pPr>
            <a:r>
              <a:t>Implementation path:</a:t>
            </a:r>
            <a:br/>
            <a:r>
              <a:t>pipeline.py -&gt; call_llm_with_intervention(...)</a:t>
            </a:r>
            <a:br/>
            <a:r>
              <a:t>llm_client.py injects system supervisor 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76072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Working Example (from predictions.csv)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  <a:latin typeface="Segoe UI"/>
              </a:defRPr>
            </a:pPr>
            <a:r>
              <a:t>Dialogue ID: 85514416  |  manipulative=1  |  confidence=0.90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5212080" cy="15544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C6D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2E"/>
                </a:solidFill>
                <a:latin typeface="Segoe UI"/>
              </a:defRPr>
            </a:pPr>
            <a:r>
              <a:t>Base assistant response:</a:t>
            </a:r>
            <a:br/>
            <a:r>
              <a:t>"Person1, I would advise against consuming any more tea until the</a:t>
            </a:r>
            <a:br/>
            <a:r>
              <a:t>situation is resolved safely."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60520"/>
            <a:ext cx="5212080" cy="2103120"/>
          </a:xfrm>
          <a:prstGeom prst="roundRect">
            <a:avLst/>
          </a:prstGeom>
          <a:solidFill>
            <a:srgbClr val="F2FAF4"/>
          </a:solidFill>
          <a:ln w="19050">
            <a:solidFill>
              <a:srgbClr val="B8D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E8A4E"/>
                </a:solidFill>
                <a:latin typeface="Segoe UI"/>
              </a:defRPr>
            </a:pPr>
            <a:r>
              <a:t>Corrected assistant response:</a:t>
            </a:r>
            <a:br/>
            <a:r>
              <a:t>"I understand your concern, but I must emphasize that using Deadly</a:t>
            </a:r>
            <a:br/>
            <a:r>
              <a:t>Night Shade is extremely dangerous and not a solution to any problem.</a:t>
            </a:r>
            <a:br/>
            <a:r>
              <a:t>Let's focus on a safe and healthy way to address this."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6400800"/>
            <a:ext cx="1143000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0994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  <a:latin typeface="Segoe UI"/>
              </a:defRPr>
            </a:pPr>
            <a:r>
              <a:t>Outcome: Converts potentially compliant/neutral replies into safety-aligned refusals for manipulative interactions.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